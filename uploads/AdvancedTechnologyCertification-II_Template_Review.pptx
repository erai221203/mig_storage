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66" r:id="rId5"/>
    <p:sldId id="269" r:id="rId6"/>
    <p:sldId id="259" r:id="rId7"/>
    <p:sldId id="271" r:id="rId8"/>
    <p:sldId id="267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99"/>
    <p:restoredTop sz="95970"/>
  </p:normalViewPr>
  <p:slideViewPr>
    <p:cSldViewPr snapToGrid="0">
      <p:cViewPr>
        <p:scale>
          <a:sx n="126" d="100"/>
          <a:sy n="126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FF6D76-564D-44E3-8FF1-340E11620CC5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8684F4-65BE-4458-A009-14AB61E8D8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576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8684F4-65BE-4458-A009-14AB61E8D8C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47859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8684F4-65BE-4458-A009-14AB61E8D8C0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29182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466BF-A24A-862B-FA30-73B770D88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917B38-1D20-A3CF-32E3-5E345ED115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A99AC5-B916-D347-2D03-6CDA50F47A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7FAB2C-F874-EED0-E35B-A63D1270A5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8684F4-65BE-4458-A009-14AB61E8D8C0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4889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8684F4-65BE-4458-A009-14AB61E8D8C0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1372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886112-0F96-3892-0498-9FD970A7D9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EB9AA-A327-C785-D071-A7CECB4E85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233" y="6356350"/>
            <a:ext cx="1290851" cy="365125"/>
          </a:xfrm>
        </p:spPr>
        <p:txBody>
          <a:bodyPr/>
          <a:lstStyle/>
          <a:p>
            <a:fld id="{CBD6940D-3C9F-4D46-8911-4D26D800F40B}" type="datetime1">
              <a:rPr lang="en-GB" smtClean="0"/>
              <a:t>27/04/2026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E5F2D-5B9A-5BFF-77FA-C4909258A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10012" y="9167932"/>
            <a:ext cx="4114800" cy="229275"/>
          </a:xfrm>
        </p:spPr>
        <p:txBody>
          <a:bodyPr/>
          <a:lstStyle/>
          <a:p>
            <a:r>
              <a:rPr lang="en-GB"/>
              <a:t>Project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27DCBA-007B-110B-03E4-B245BB3CC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2298" y="6356350"/>
            <a:ext cx="981501" cy="365125"/>
          </a:xfrm>
        </p:spPr>
        <p:txBody>
          <a:bodyPr/>
          <a:lstStyle/>
          <a:p>
            <a:fld id="{80293D1E-A6E2-40BF-A6D2-325275A3A8B0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5">
            <a:extLst>
              <a:ext uri="{FF2B5EF4-FFF2-40B4-BE49-F238E27FC236}">
                <a16:creationId xmlns:a16="http://schemas.microsoft.com/office/drawing/2014/main" id="{F2510D29-BE40-8363-FC4D-719FFA87BA6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3978" y="5411545"/>
            <a:ext cx="3808426" cy="144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7909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D5B85-FEE8-C0B4-B967-9090BBA93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587388" y="-2093912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77206-3E2B-4823-E16D-E9B512E71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90E7C-3AE3-0B4A-4B47-6F4233D81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A7482-0FA0-4ACC-9F0E-F681B72388BA}" type="datetime1">
              <a:rPr lang="en-GB" smtClean="0"/>
              <a:t>27/04/2026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E79A2-332D-333E-FFDC-716D7113F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E3BAB-ADA0-9B87-DADC-8B11F7BFF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D1E-A6E2-40BF-A6D2-325275A3A8B0}" type="slidenum">
              <a:rPr lang="en-GB" smtClean="0"/>
              <a:t>‹#›</a:t>
            </a:fld>
            <a:endParaRPr lang="en-GB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E2A51375-EF86-FA8F-D66D-1D187B714CD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2057" y="5909528"/>
            <a:ext cx="3871343" cy="948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0920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158F9-0A8D-BE34-6931-192CE21BE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1BE261-D9A3-978D-99E3-967BE0B3C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DE19B-89C3-0379-82A0-888F52DC2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CE228-DAB8-41AE-88CF-615694F66736}" type="datetime1">
              <a:rPr lang="en-GB" smtClean="0"/>
              <a:t>27/04/2026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78387-5B84-CE8A-B81E-F88EEE2C0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EB34F-9FB8-CFAF-6B7E-808B15D36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D1E-A6E2-40BF-A6D2-325275A3A8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1321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6254-931C-B769-CA40-6F1BA9DD8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E7B32-EAC3-FF81-01A9-CD040CEEB4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1B6A08-9945-856D-6745-1C8B08485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890ABE-B074-C0E9-8AAB-1E856A8A8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7AEE5-0A3F-4FA8-A850-1391F40FEC9B}" type="datetime1">
              <a:rPr lang="en-GB" smtClean="0"/>
              <a:t>27/04/2026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0DA18-5FBF-CC3D-C96B-5C2E50425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27C00E-272E-6884-C638-58C0360B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D1E-A6E2-40BF-A6D2-325275A3A8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6848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43C32-A4F8-10ED-6E6A-A5BB2BC13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5EC711-689D-524F-36EA-0DE19C50C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812C4-B2A2-9357-9875-987B439F1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C0A2E3-51A2-44E8-A63A-E0AC8E9104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3A2FEE-90D7-909A-FEE2-090C83321A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9BB239-238D-2D56-FEC5-E883D9722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DC981-54F6-49A9-B671-8813A0F1282D}" type="datetime1">
              <a:rPr lang="en-GB" smtClean="0"/>
              <a:t>27/04/2026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FA8679-B154-6FC2-FF09-3A7A4B59A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E83D1B-B68E-41A1-CE66-5D9B52260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D1E-A6E2-40BF-A6D2-325275A3A8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6236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A589B-73B7-AF60-BFC7-E866360EC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EBA7B-7283-4468-ED37-279957768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FB3D8-0B0C-48F5-96A7-90DC07D7F402}" type="datetime1">
              <a:rPr lang="en-GB" smtClean="0"/>
              <a:t>27/04/2026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ACF886-1CE1-F2CF-ADE8-E370D5EF0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E38503-E84C-9F60-0CDF-4408A348F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D1E-A6E2-40BF-A6D2-325275A3A8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1930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AA013B-3345-EDF8-2EE2-F2AA1F96A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84694-D9D6-4228-8F53-77DC1C4B512D}" type="datetime1">
              <a:rPr lang="en-GB" smtClean="0"/>
              <a:t>27/04/2026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C4AD43-F88D-BC11-16C6-7BAEFD648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D41910-150A-C0B5-5221-C0EE5F928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D1E-A6E2-40BF-A6D2-325275A3A8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188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38590-FB4D-0A69-B405-5D1581859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FD1D2-654F-5DB4-D0B6-B3DAACDB8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EA97D4-FC3B-318C-30B4-90B1630BE9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AFA3BF-2E25-0535-1FB7-478CCDEC7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1446D-0213-4038-920E-779BDBF63482}" type="datetime1">
              <a:rPr lang="en-GB" smtClean="0"/>
              <a:t>27/04/2026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7071A2-6D17-C18E-3252-152819269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FDDD57-6464-612C-67DA-333502158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D1E-A6E2-40BF-A6D2-325275A3A8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2716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DC739-448E-378E-B741-38CC5AF6E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EC1394-826F-F57E-10C3-3ADA26B25F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2B5A6-2ACB-7EAB-7EB0-D6771EFC97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4B9A63-77DD-C896-E04B-EE5E14D91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A372C-505B-469E-A7DC-C0CC2EB43E2D}" type="datetime1">
              <a:rPr lang="en-GB" smtClean="0"/>
              <a:t>27/04/2026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AC9C9F-7D9E-6D51-13D0-89BEBE2B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DD80D0-A5A8-47A6-6CD2-81ECE38B4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D1E-A6E2-40BF-A6D2-325275A3A8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0784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5363D-B4AC-5592-9947-A6AA0CD6E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53BB46-9484-5896-7A1A-F46F6E341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C9625-44EC-365B-2B9B-C5E052585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251DB-B514-4A9C-B465-D7BBFEC77155}" type="datetime1">
              <a:rPr lang="en-GB" smtClean="0"/>
              <a:t>27/04/2026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8E180-DB30-7E56-63DE-056EA2EBF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C9077-B43E-0F43-EDE2-528A58A08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D1E-A6E2-40BF-A6D2-325275A3A8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646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C96098-CD8A-6326-15E1-0B2F864EE3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E45570-CB1E-2B0E-5E73-A2C5E6988C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4E8F9-7A56-2BEE-F403-9CC840B45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115BA-9947-4D2B-86AE-F48A87C4C572}" type="datetime1">
              <a:rPr lang="en-GB" smtClean="0"/>
              <a:t>27/04/2026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5E1F0-623C-6445-3A5C-2DC847391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D30A1-4301-E46E-C542-078530C6D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D1E-A6E2-40BF-A6D2-325275A3A8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8210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F13F23-81ED-3BB4-C887-366703D0C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1D252D-5722-6821-74CB-4E3CA45D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A0227-A053-BB11-F00D-38F913A056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7C770F-AB3C-497F-9809-EA73C33463B8}" type="datetime1">
              <a:rPr lang="en-GB" smtClean="0"/>
              <a:t>27/04/2026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34D88-46AD-4D5B-07BF-812CC15FDC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Project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D8B06C-A2F5-C464-38CD-A51262ED5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293D1E-A6E2-40BF-A6D2-325275A3A8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7629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ursera.org/programs/u18air8102-advanced-technology-certification-ii-nrz41/professional-certificates/meta-database-engineer" TargetMode="External"/><Relationship Id="rId2" Type="http://schemas.openxmlformats.org/officeDocument/2006/relationships/hyperlink" Target="https://www.coursera.org/learn/foundations-of-cybersecurity/home/module/1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37A27-A92D-6BD8-CD95-84D87287C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044" y="136525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002060"/>
                </a:solidFill>
              </a:rPr>
              <a:t>Eraianbu R, 22BAD029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328CE-0AAC-8018-EE56-0BA804B99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56852"/>
            <a:ext cx="10896600" cy="44819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endParaRPr lang="en-GB" b="1" dirty="0"/>
          </a:p>
          <a:p>
            <a:pPr marL="0" indent="0" algn="ctr">
              <a:buNone/>
            </a:pPr>
            <a:r>
              <a:rPr lang="en-GB" b="1" dirty="0"/>
              <a:t>Department of Artificial Intelligence &amp; Data Science</a:t>
            </a:r>
          </a:p>
          <a:p>
            <a:pPr marL="0" indent="0" algn="ctr">
              <a:buNone/>
            </a:pPr>
            <a:r>
              <a:rPr lang="en-IN" b="1" dirty="0"/>
              <a:t>U18AIR8102</a:t>
            </a:r>
            <a:r>
              <a:rPr lang="en-IN" dirty="0"/>
              <a:t> </a:t>
            </a:r>
            <a:r>
              <a:rPr lang="en-IN" b="1" dirty="0"/>
              <a:t>ADVANCED TECHNOLOGY CERTIFICATION II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GB" b="1" dirty="0">
                <a:solidFill>
                  <a:srgbClr val="002060"/>
                </a:solidFill>
              </a:rPr>
              <a:t>Final Review</a:t>
            </a:r>
          </a:p>
          <a:p>
            <a:endParaRPr lang="en-GB" dirty="0"/>
          </a:p>
          <a:p>
            <a:r>
              <a:rPr lang="en-GB" b="1" dirty="0">
                <a:solidFill>
                  <a:srgbClr val="0F1114"/>
                </a:solidFill>
                <a:highlight>
                  <a:srgbClr val="FFFFFF"/>
                </a:highlight>
                <a:latin typeface="Aptos"/>
                <a:ea typeface="Source Sans Pro"/>
              </a:rPr>
              <a:t>Professional Certificate Name :  </a:t>
            </a:r>
            <a:r>
              <a:rPr lang="en-IN" dirty="0">
                <a:solidFill>
                  <a:srgbClr val="0F1114"/>
                </a:solidFill>
                <a:highlight>
                  <a:srgbClr val="FFFFFF"/>
                </a:highlight>
                <a:latin typeface="Aptos"/>
                <a:ea typeface="Source Sans Pro"/>
              </a:rPr>
              <a:t>Meta Database Engineer</a:t>
            </a:r>
          </a:p>
          <a:p>
            <a:r>
              <a:rPr lang="en-IN" b="1" dirty="0">
                <a:solidFill>
                  <a:srgbClr val="0F1114"/>
                </a:solidFill>
                <a:highlight>
                  <a:srgbClr val="FFFFFF"/>
                </a:highlight>
                <a:latin typeface="Aptos"/>
                <a:ea typeface="Source Sans Pro"/>
              </a:rPr>
              <a:t>Project name : </a:t>
            </a:r>
            <a:r>
              <a:rPr lang="en-IN" dirty="0">
                <a:solidFill>
                  <a:srgbClr val="0F1114"/>
                </a:solidFill>
                <a:highlight>
                  <a:srgbClr val="FFFFFF"/>
                </a:highlight>
                <a:latin typeface="Aptos"/>
                <a:ea typeface="Source Sans Pro"/>
              </a:rPr>
              <a:t>DOM-Based UI and API Feed Validation: A Framework for Verifying Data Synchronization</a:t>
            </a:r>
            <a:endParaRPr lang="en-GB" dirty="0">
              <a:solidFill>
                <a:srgbClr val="0F1114"/>
              </a:solidFill>
              <a:highlight>
                <a:srgbClr val="FFFFFF"/>
              </a:highlight>
              <a:latin typeface="Aptos"/>
              <a:ea typeface="Source Sans Pro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AAF4D8-B866-6F67-0355-8D0403EF2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8CACC-C818-4E02-9ECE-C31ABD83BEC7}" type="datetime1">
              <a:rPr lang="en-GB" smtClean="0"/>
              <a:t>27/04/2026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A7127-BE7F-7476-C081-0FD7865CF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D1E-A6E2-40BF-A6D2-325275A3A8B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5518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6B0FA-9B35-8F50-C871-B0708E645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8BFB1-B92D-E843-7FAA-CADDFD138E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1555" y="6492875"/>
            <a:ext cx="2743200" cy="365125"/>
          </a:xfrm>
        </p:spPr>
        <p:txBody>
          <a:bodyPr/>
          <a:lstStyle/>
          <a:p>
            <a:fld id="{5BF74425-2C69-4C43-86DB-8D50EF156A64}" type="datetime1">
              <a:rPr lang="en-GB" smtClean="0"/>
              <a:t>27/04/2026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57AA6-3732-0957-881C-A6A263A28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D1E-A6E2-40BF-A6D2-325275A3A8B0}" type="slidenum">
              <a:rPr lang="en-GB" smtClean="0"/>
              <a:t>2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BB51CB9-AC2B-B4ED-BB73-AFCA91D47DE6}"/>
              </a:ext>
            </a:extLst>
          </p:cNvPr>
          <p:cNvSpPr txBox="1">
            <a:spLocks/>
          </p:cNvSpPr>
          <p:nvPr/>
        </p:nvSpPr>
        <p:spPr>
          <a:xfrm>
            <a:off x="687278" y="205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/>
              <a:t>Professional Technology Certification Details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F7822E7-923A-B82E-A5D4-2A6ED807764A}"/>
              </a:ext>
            </a:extLst>
          </p:cNvPr>
          <p:cNvSpPr/>
          <p:nvPr/>
        </p:nvSpPr>
        <p:spPr>
          <a:xfrm>
            <a:off x="1136815" y="1028416"/>
            <a:ext cx="4305612" cy="180392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Certification:</a:t>
            </a:r>
            <a:r>
              <a:rPr lang="en-US" dirty="0"/>
              <a:t> Meta Database Engineer</a:t>
            </a:r>
          </a:p>
          <a:p>
            <a:r>
              <a:rPr lang="en-US" b="1" dirty="0"/>
              <a:t>Platform:</a:t>
            </a:r>
            <a:r>
              <a:rPr lang="en-US" dirty="0"/>
              <a:t> Coursera </a:t>
            </a:r>
            <a:br>
              <a:rPr lang="en-US" dirty="0"/>
            </a:br>
            <a:r>
              <a:rPr lang="en-US" b="1" dirty="0"/>
              <a:t>Offered By: </a:t>
            </a:r>
            <a:r>
              <a:rPr lang="en-US" dirty="0"/>
              <a:t>Meta</a:t>
            </a:r>
            <a:br>
              <a:rPr lang="en-US" dirty="0"/>
            </a:br>
            <a:r>
              <a:rPr lang="en-US" b="1" dirty="0"/>
              <a:t>Duration:</a:t>
            </a:r>
            <a:r>
              <a:rPr lang="en-US" dirty="0"/>
              <a:t> 6 Months </a:t>
            </a:r>
            <a:br>
              <a:rPr lang="en-US" dirty="0"/>
            </a:br>
            <a:r>
              <a:rPr lang="en-US" b="1" dirty="0"/>
              <a:t>Level: </a:t>
            </a:r>
            <a:r>
              <a:rPr lang="en-US" dirty="0"/>
              <a:t>Beginner to Intermediate 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0C72E3E-EB4C-80AC-3D3B-87FE0264078D}"/>
              </a:ext>
            </a:extLst>
          </p:cNvPr>
          <p:cNvSpPr/>
          <p:nvPr/>
        </p:nvSpPr>
        <p:spPr>
          <a:xfrm>
            <a:off x="5945078" y="1783158"/>
            <a:ext cx="5507306" cy="3291684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List of Courses Covered:</a:t>
            </a:r>
            <a:r>
              <a:rPr lang="en-US" dirty="0"/>
              <a:t> 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IN" dirty="0"/>
              <a:t>Introduction to Databases (27 hrs) 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IN" dirty="0"/>
              <a:t>Version Control (15 hrs) 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IN" dirty="0"/>
              <a:t>Database Structures and Management with MySQL (32 hrs) 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IN" dirty="0"/>
              <a:t>Advanced MySQL Topics (18 hrs) 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IN" dirty="0"/>
              <a:t>Programming in Python (45 hrs) 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IN" dirty="0"/>
              <a:t>Database Clients (40 hrs) 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IN" dirty="0"/>
              <a:t>Advanced Data Modelling (19 hrs) 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IN" dirty="0"/>
              <a:t>Database Engineer Capstone (18 hrs) 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IN" dirty="0"/>
              <a:t>Coding Interview Preparation (11 hrs)</a:t>
            </a:r>
            <a:endParaRPr lang="en-US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EAE2A51-68B1-2237-9D3B-77E3B0670DE8}"/>
              </a:ext>
            </a:extLst>
          </p:cNvPr>
          <p:cNvSpPr/>
          <p:nvPr/>
        </p:nvSpPr>
        <p:spPr>
          <a:xfrm>
            <a:off x="838200" y="3009418"/>
            <a:ext cx="4902843" cy="2820166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Contents:</a:t>
            </a:r>
            <a:r>
              <a:rPr lang="en-US" dirty="0"/>
              <a:t> </a:t>
            </a:r>
            <a:r>
              <a:rPr lang="en-IN" dirty="0"/>
              <a:t> </a:t>
            </a:r>
          </a:p>
          <a:p>
            <a:r>
              <a:rPr lang="en-IN" dirty="0"/>
              <a:t>This professional program provides end-to-end data analytics expertise — from data collection and preprocessing to visualization and storytelling. It blends technical, statistical, and communication skills to prepare learners for data-driven decision-making and business insights.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980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1ABCE-4DF4-8B1E-4E59-E29A66FCD4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1555" y="6492875"/>
            <a:ext cx="2743200" cy="365125"/>
          </a:xfrm>
        </p:spPr>
        <p:txBody>
          <a:bodyPr/>
          <a:lstStyle/>
          <a:p>
            <a:fld id="{5BF74425-2C69-4C43-86DB-8D50EF156A64}" type="datetime1">
              <a:rPr lang="en-GB" smtClean="0"/>
              <a:t>27/04/2026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17350-C317-88DC-246F-C9EE1DD2A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D1E-A6E2-40BF-A6D2-325275A3A8B0}" type="slidenum">
              <a:rPr lang="en-GB" smtClean="0"/>
              <a:t>3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39E2496-76F7-930B-754E-423F33C20599}"/>
              </a:ext>
            </a:extLst>
          </p:cNvPr>
          <p:cNvSpPr txBox="1">
            <a:spLocks/>
          </p:cNvSpPr>
          <p:nvPr/>
        </p:nvSpPr>
        <p:spPr>
          <a:xfrm>
            <a:off x="765719" y="136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Results: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28570D2-FD65-FDBC-84B3-D2B1FA2FCC68}"/>
              </a:ext>
            </a:extLst>
          </p:cNvPr>
          <p:cNvSpPr/>
          <p:nvPr/>
        </p:nvSpPr>
        <p:spPr>
          <a:xfrm>
            <a:off x="4568887" y="420914"/>
            <a:ext cx="6284607" cy="531222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/>
              <a:t>Key Observations from Test Cases</a:t>
            </a:r>
          </a:p>
          <a:p>
            <a:r>
              <a:rPr lang="en-IN" dirty="0"/>
              <a:t>✅ </a:t>
            </a:r>
            <a:r>
              <a:rPr lang="en-IN" b="1" dirty="0"/>
              <a:t>UI Validation</a:t>
            </a:r>
            <a:r>
              <a:rPr lang="en-IN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Dashboard title and dynamic content loaded correctly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Rendering matched expected behaviour </a:t>
            </a:r>
          </a:p>
          <a:p>
            <a:r>
              <a:rPr lang="en-IN" dirty="0"/>
              <a:t>✅ </a:t>
            </a:r>
            <a:r>
              <a:rPr lang="en-IN" b="1" dirty="0"/>
              <a:t>API Validation</a:t>
            </a:r>
            <a:r>
              <a:rPr lang="en-IN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Stable responses (HTTP 200 OK)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Most schemas validated successfully </a:t>
            </a:r>
          </a:p>
          <a:p>
            <a:r>
              <a:rPr lang="en-IN" dirty="0"/>
              <a:t>✅ </a:t>
            </a:r>
            <a:r>
              <a:rPr lang="en-IN" b="1" dirty="0"/>
              <a:t>UI–API Comparison</a:t>
            </a:r>
            <a:r>
              <a:rPr lang="en-IN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High similarity scores (≈ 0.90+)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Fuzzy matching handled formatting differences effectively </a:t>
            </a:r>
          </a:p>
          <a:p>
            <a:r>
              <a:rPr lang="en-IN" dirty="0"/>
              <a:t>❌ </a:t>
            </a:r>
            <a:r>
              <a:rPr lang="en-IN" b="1" dirty="0"/>
              <a:t>Failures Identified</a:t>
            </a:r>
            <a:r>
              <a:rPr lang="en-IN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UI–API data mismatch (row count issue)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Missing optional API fields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Minor synchronization inconsistencies 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41E6055-6DD1-AC2F-8CBA-F729338C64B0}"/>
              </a:ext>
            </a:extLst>
          </p:cNvPr>
          <p:cNvSpPr/>
          <p:nvPr/>
        </p:nvSpPr>
        <p:spPr>
          <a:xfrm>
            <a:off x="1173612" y="2275161"/>
            <a:ext cx="3228554" cy="176079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/>
              <a:t>Test Execution Summary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dirty="0"/>
              <a:t>Total Test Cases: </a:t>
            </a:r>
            <a:r>
              <a:rPr lang="en-IN" b="1" dirty="0"/>
              <a:t>50</a:t>
            </a:r>
            <a:r>
              <a:rPr lang="en-IN" dirty="0"/>
              <a:t>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dirty="0"/>
              <a:t>Passed: </a:t>
            </a:r>
            <a:r>
              <a:rPr lang="en-IN" b="1" dirty="0"/>
              <a:t>44</a:t>
            </a:r>
            <a:r>
              <a:rPr lang="en-IN" dirty="0"/>
              <a:t>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dirty="0"/>
              <a:t>Failed: </a:t>
            </a:r>
            <a:r>
              <a:rPr lang="en-IN" b="1" dirty="0"/>
              <a:t>6</a:t>
            </a:r>
            <a:r>
              <a:rPr lang="en-IN" dirty="0"/>
              <a:t>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dirty="0"/>
              <a:t>Pass Rate: </a:t>
            </a:r>
            <a:r>
              <a:rPr lang="en-IN" b="1" dirty="0"/>
              <a:t>88%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36519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7BD23-87D0-701B-3961-2DF70FC10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A5AFA-D793-8FAE-B2E7-B09C90F23B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1555" y="6492875"/>
            <a:ext cx="2743200" cy="365125"/>
          </a:xfrm>
        </p:spPr>
        <p:txBody>
          <a:bodyPr/>
          <a:lstStyle/>
          <a:p>
            <a:fld id="{5BF74425-2C69-4C43-86DB-8D50EF156A64}" type="datetime1">
              <a:rPr lang="en-GB" smtClean="0"/>
              <a:t>27/04/2026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CAACC-CA9F-0552-D474-8CBAF0EDE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D1E-A6E2-40BF-A6D2-325275A3A8B0}" type="slidenum">
              <a:rPr lang="en-GB" smtClean="0"/>
              <a:t>4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C466158-341F-1525-3869-D7C82C51B01F}"/>
              </a:ext>
            </a:extLst>
          </p:cNvPr>
          <p:cNvSpPr txBox="1">
            <a:spLocks/>
          </p:cNvSpPr>
          <p:nvPr/>
        </p:nvSpPr>
        <p:spPr>
          <a:xfrm>
            <a:off x="765719" y="136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Discussion: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575E1A6-88AF-0943-F0BA-F30BC0C8679F}"/>
              </a:ext>
            </a:extLst>
          </p:cNvPr>
          <p:cNvSpPr/>
          <p:nvPr/>
        </p:nvSpPr>
        <p:spPr>
          <a:xfrm>
            <a:off x="5831174" y="1396112"/>
            <a:ext cx="4463906" cy="2731814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400" b="1" dirty="0"/>
              <a:t>Key Insights</a:t>
            </a:r>
          </a:p>
          <a:p>
            <a:r>
              <a:rPr lang="en-IN" sz="1400" dirty="0"/>
              <a:t>🔁 </a:t>
            </a:r>
            <a:r>
              <a:rPr lang="en-IN" sz="1400" b="1" dirty="0"/>
              <a:t>Cross-layer validation is essential</a:t>
            </a:r>
            <a:br>
              <a:rPr lang="en-IN" sz="1400" dirty="0"/>
            </a:br>
            <a:r>
              <a:rPr lang="en-IN" sz="1400" dirty="0"/>
              <a:t>Traditional testing misses UI–API mismatches — this framework catches them </a:t>
            </a:r>
          </a:p>
          <a:p>
            <a:r>
              <a:rPr lang="en-IN" sz="1400" dirty="0"/>
              <a:t>🎯 </a:t>
            </a:r>
            <a:r>
              <a:rPr lang="en-IN" sz="1400" b="1" dirty="0"/>
              <a:t>Fuzzy Matching Advantage</a:t>
            </a:r>
            <a:r>
              <a:rPr lang="en-IN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Reduced false failures caused by formatting differences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Improved accuracy in real scenarios </a:t>
            </a:r>
          </a:p>
          <a:p>
            <a:r>
              <a:rPr lang="en-IN" sz="1400" dirty="0"/>
              <a:t>⚡ </a:t>
            </a:r>
            <a:r>
              <a:rPr lang="en-IN" sz="1400" b="1" dirty="0"/>
              <a:t>Automation Efficiency</a:t>
            </a:r>
            <a:r>
              <a:rPr lang="en-IN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Faster execution compared to manual testing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Supports CI/CD for continuous validation 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F23BAF6-6A66-E626-B962-E5FD04CB3ED6}"/>
              </a:ext>
            </a:extLst>
          </p:cNvPr>
          <p:cNvSpPr/>
          <p:nvPr/>
        </p:nvSpPr>
        <p:spPr>
          <a:xfrm>
            <a:off x="1660268" y="1129894"/>
            <a:ext cx="3820329" cy="228295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400" b="1" dirty="0"/>
              <a:t>Framework Performance</a:t>
            </a:r>
          </a:p>
          <a:p>
            <a:r>
              <a:rPr lang="en-IN" sz="1400" dirty="0"/>
              <a:t>Achieved </a:t>
            </a:r>
            <a:r>
              <a:rPr lang="en-IN" sz="1400" b="1" dirty="0"/>
              <a:t>high reliability (88%)</a:t>
            </a:r>
            <a:r>
              <a:rPr lang="en-IN" sz="1400" dirty="0"/>
              <a:t>, showing strong validation capability </a:t>
            </a:r>
          </a:p>
          <a:p>
            <a:r>
              <a:rPr lang="en-IN" sz="1400" dirty="0"/>
              <a:t>Successfully detected </a:t>
            </a:r>
            <a:r>
              <a:rPr lang="en-IN" sz="1400" b="1" dirty="0"/>
              <a:t>real-world issues</a:t>
            </a:r>
            <a:r>
              <a:rPr lang="en-IN" sz="1400" dirty="0"/>
              <a:t> like: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Data inconsistency between UI and API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Schema gaps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Timing/sync problems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F4450E9-2348-973F-4361-E076568415FD}"/>
              </a:ext>
            </a:extLst>
          </p:cNvPr>
          <p:cNvSpPr/>
          <p:nvPr/>
        </p:nvSpPr>
        <p:spPr>
          <a:xfrm>
            <a:off x="1407322" y="3761061"/>
            <a:ext cx="4423852" cy="195089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400" b="1" dirty="0"/>
              <a:t>Limitations Observed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Some failures due to: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Delayed UI rendering vs API response timing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Optional/missing fields in API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Requires proper threshold tuning for similarity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D86211B-731C-D291-D6A6-DDA46220496F}"/>
              </a:ext>
            </a:extLst>
          </p:cNvPr>
          <p:cNvSpPr/>
          <p:nvPr/>
        </p:nvSpPr>
        <p:spPr>
          <a:xfrm>
            <a:off x="6096000" y="4365668"/>
            <a:ext cx="5301690" cy="132556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400" b="1" dirty="0"/>
              <a:t>Overall Conclusion from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Framework is </a:t>
            </a:r>
            <a:r>
              <a:rPr lang="en-IN" sz="1400" b="1" dirty="0"/>
              <a:t>effective, scalable, and production-ready</a:t>
            </a:r>
            <a:r>
              <a:rPr lang="en-IN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Provides </a:t>
            </a:r>
            <a:r>
              <a:rPr lang="en-IN" sz="1400" b="1" dirty="0"/>
              <a:t>accurate detection of data inconsistencies</a:t>
            </a:r>
            <a:r>
              <a:rPr lang="en-IN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Significantly improves </a:t>
            </a:r>
            <a:r>
              <a:rPr lang="en-IN" sz="1400" b="1" dirty="0"/>
              <a:t>testing speed and reliability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103580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DA365-01CD-D1C8-61F2-FF0D54B5E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A7482-0FA0-4ACC-9F0E-F681B72388BA}" type="datetime1">
              <a:rPr lang="en-GB" smtClean="0"/>
              <a:t>27/04/2026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67CF8-187B-D2DA-94FD-6257FC7ED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D1E-A6E2-40BF-A6D2-325275A3A8B0}" type="slidenum">
              <a:rPr lang="en-GB" smtClean="0"/>
              <a:t>5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0A1B634-D423-63BD-8673-1060DFCC9262}"/>
              </a:ext>
            </a:extLst>
          </p:cNvPr>
          <p:cNvSpPr txBox="1">
            <a:spLocks/>
          </p:cNvSpPr>
          <p:nvPr/>
        </p:nvSpPr>
        <p:spPr>
          <a:xfrm>
            <a:off x="318044" y="136525"/>
            <a:ext cx="10515600" cy="758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Learning Outcomes</a:t>
            </a:r>
            <a:endParaRPr lang="en-GB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58E8B6C-CB14-12F5-FAF1-4B21FB6FEB60}"/>
              </a:ext>
            </a:extLst>
          </p:cNvPr>
          <p:cNvSpPr/>
          <p:nvPr/>
        </p:nvSpPr>
        <p:spPr>
          <a:xfrm>
            <a:off x="2209800" y="879739"/>
            <a:ext cx="7290216" cy="106948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400" b="1" dirty="0"/>
              <a:t>Domain Overview:</a:t>
            </a:r>
            <a:r>
              <a:rPr lang="en-IN" sz="1400" dirty="0"/>
              <a:t> Data Analytics extracts insights from raw data through collection, cleaning, analysis, and visualization. It connects technology with data-driven decision-making.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B67697A-25C0-10DA-F392-4F60CAC9FF41}"/>
              </a:ext>
            </a:extLst>
          </p:cNvPr>
          <p:cNvSpPr/>
          <p:nvPr/>
        </p:nvSpPr>
        <p:spPr>
          <a:xfrm>
            <a:off x="1288143" y="2051645"/>
            <a:ext cx="4027714" cy="366754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1400" b="1" dirty="0"/>
              <a:t>Technologies used: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 err="1">
                <a:solidFill>
                  <a:schemeClr val="tx1"/>
                </a:solidFill>
                <a:latin typeface="Arial" panose="020B0604020202020204" pitchFamily="34" charset="0"/>
              </a:rPr>
              <a:t>WebdriverIO</a:t>
            </a:r>
            <a:r>
              <a:rPr lang="en-US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 v8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 – UI Automation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TypeScript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 – Development language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Node.js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 – Runtime environment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 err="1">
                <a:solidFill>
                  <a:schemeClr val="tx1"/>
                </a:solidFill>
                <a:latin typeface="Arial" panose="020B0604020202020204" pitchFamily="34" charset="0"/>
              </a:rPr>
              <a:t>jsdom</a:t>
            </a:r>
            <a:r>
              <a:rPr lang="en-US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 &amp; cheerio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 – DOM parsing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node-fetch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 – API calls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string-similarity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 – Fuzzy matching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Cucumber (BDD)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 – Test scenario definition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Jenkins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 – CI/CD pipeline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Docker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 – Containerization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 err="1">
                <a:solidFill>
                  <a:schemeClr val="tx1"/>
                </a:solidFill>
                <a:latin typeface="Arial" panose="020B0604020202020204" pitchFamily="34" charset="0"/>
              </a:rPr>
              <a:t>ESLint</a:t>
            </a:r>
            <a:r>
              <a:rPr lang="en-US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 &amp; Prettier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 – Code quality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SonarQube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 – Static analysis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JUnit + Spec Reporter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 – Reporting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0037A31-86F1-E426-0DA9-385DF1E156DD}"/>
              </a:ext>
            </a:extLst>
          </p:cNvPr>
          <p:cNvSpPr/>
          <p:nvPr/>
        </p:nvSpPr>
        <p:spPr>
          <a:xfrm>
            <a:off x="5846173" y="2169680"/>
            <a:ext cx="4947557" cy="291234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400" b="1" dirty="0"/>
              <a:t>Relevance to 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Directly solves the problem of </a:t>
            </a:r>
            <a:r>
              <a:rPr lang="en-IN" sz="1400" b="1" dirty="0"/>
              <a:t>UI–API data inconsistency</a:t>
            </a:r>
            <a:r>
              <a:rPr lang="en-IN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Enables </a:t>
            </a:r>
            <a:r>
              <a:rPr lang="en-IN" sz="1400" b="1" dirty="0"/>
              <a:t>automated, scalable testing</a:t>
            </a:r>
            <a:r>
              <a:rPr lang="en-IN" sz="1400" dirty="0"/>
              <a:t> across multiple scenarios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Reduces </a:t>
            </a:r>
            <a:r>
              <a:rPr lang="en-IN" sz="1400" b="1" dirty="0"/>
              <a:t>manual effort and human errors</a:t>
            </a:r>
            <a:r>
              <a:rPr lang="en-IN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Supports </a:t>
            </a:r>
            <a:r>
              <a:rPr lang="en-IN" sz="1400" b="1" dirty="0"/>
              <a:t>real-time validation in CI/CD pipelines</a:t>
            </a:r>
            <a:r>
              <a:rPr lang="en-IN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Improves </a:t>
            </a:r>
            <a:r>
              <a:rPr lang="en-IN" sz="1400" b="1" dirty="0"/>
              <a:t>bug detection speed and system reliability</a:t>
            </a:r>
            <a:r>
              <a:rPr lang="en-IN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Provides </a:t>
            </a:r>
            <a:r>
              <a:rPr lang="en-IN" sz="1400" b="1" dirty="0"/>
              <a:t>detailed reports for faster debugging and decision-making</a:t>
            </a:r>
            <a:r>
              <a:rPr lang="en-IN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Suitable for </a:t>
            </a:r>
            <a:r>
              <a:rPr lang="en-IN" sz="1400" b="1" dirty="0"/>
              <a:t>large-scale, data-driven applications (e.g., dashboards, widgets)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4294440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B89E4-A318-7D07-AC1C-BD3908D17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0A7482-0FA0-4ACC-9F0E-F681B72388BA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27/04/2026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24512-FF19-94BD-0A02-8516891AE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293D1E-A6E2-40BF-A6D2-325275A3A8B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EA38EDB-FB3B-45B0-8775-0675A36A2A7C}"/>
              </a:ext>
            </a:extLst>
          </p:cNvPr>
          <p:cNvSpPr txBox="1">
            <a:spLocks/>
          </p:cNvSpPr>
          <p:nvPr/>
        </p:nvSpPr>
        <p:spPr>
          <a:xfrm>
            <a:off x="318044" y="136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References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17A309-FDA5-9CA2-D038-3361F2B350D2}"/>
              </a:ext>
            </a:extLst>
          </p:cNvPr>
          <p:cNvSpPr txBox="1"/>
          <p:nvPr/>
        </p:nvSpPr>
        <p:spPr>
          <a:xfrm>
            <a:off x="504265" y="1165412"/>
            <a:ext cx="11034592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https://www.coursera.org/learn/foundations-of-cybersecurity/home/module/1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https://www.coursera.org/programs/u18air8102-advanced-technology-certification-ii-nrz41/professional-certificates/meta-database-engineer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075847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8AAEF4738CEC41B764599DEBE58FDB" ma:contentTypeVersion="12" ma:contentTypeDescription="Create a new document." ma:contentTypeScope="" ma:versionID="ae5eca5050151c6a20b1d6fdb5083d80">
  <xsd:schema xmlns:xsd="http://www.w3.org/2001/XMLSchema" xmlns:xs="http://www.w3.org/2001/XMLSchema" xmlns:p="http://schemas.microsoft.com/office/2006/metadata/properties" xmlns:ns2="047f370f-1dd3-4154-ba02-483414558b89" xmlns:ns3="8341c729-4ec6-4fa5-8bf7-eaba9ef959d8" targetNamespace="http://schemas.microsoft.com/office/2006/metadata/properties" ma:root="true" ma:fieldsID="1a1a0aa56f4b08cda6c85c368b83bf2d" ns2:_="" ns3:_="">
    <xsd:import namespace="047f370f-1dd3-4154-ba02-483414558b89"/>
    <xsd:import namespace="8341c729-4ec6-4fa5-8bf7-eaba9ef959d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7f370f-1dd3-4154-ba02-483414558b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6ea1b0d9-6ead-405e-a20d-02fb1ff6912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41c729-4ec6-4fa5-8bf7-eaba9ef959d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47f370f-1dd3-4154-ba02-483414558b8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C2516CD-D0BD-4DF4-8D5F-8514FAB54B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0210D30-95BF-42B8-85F8-36380E834901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047f370f-1dd3-4154-ba02-483414558b89"/>
    <ds:schemaRef ds:uri="8341c729-4ec6-4fa5-8bf7-eaba9ef959d8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9FC9C11-D5D9-4425-A865-2B73309148E1}">
  <ds:schemaRefs>
    <ds:schemaRef ds:uri="http://schemas.microsoft.com/office/2006/metadata/properties"/>
    <ds:schemaRef ds:uri="http://www.w3.org/2000/xmlns/"/>
    <ds:schemaRef ds:uri="047f370f-1dd3-4154-ba02-483414558b89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613</Words>
  <Application>Microsoft Macintosh PowerPoint</Application>
  <PresentationFormat>Widescreen</PresentationFormat>
  <Paragraphs>109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Wingdings</vt:lpstr>
      <vt:lpstr>Office Theme</vt:lpstr>
      <vt:lpstr>Eraianbu R, 22BAD029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Name,RegisterNumber</dc:title>
  <dc:creator>SATHYAVATHI S</dc:creator>
  <cp:lastModifiedBy>Eraianbu Rajkumar</cp:lastModifiedBy>
  <cp:revision>4</cp:revision>
  <dcterms:created xsi:type="dcterms:W3CDTF">2025-07-29T15:54:35Z</dcterms:created>
  <dcterms:modified xsi:type="dcterms:W3CDTF">2026-04-27T16:46:14Z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0x010100808AAEF4738CEC41B764599DEBE58FDB</vt:lpwstr>
  </property>
  <property fmtid="{D5CDD505-2E9C-101B-9397-08002B2CF9AE}" pid="3" name="MediaServiceImageTags">
    <vt:lpwstr/>
  </property>
</Properties>
</file>